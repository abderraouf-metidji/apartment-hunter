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regular.fntdata"/><Relationship Id="rId14" Type="http://schemas.openxmlformats.org/officeDocument/2006/relationships/slide" Target="slides/slide9.xml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e3460dc8a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g30e3460dc8a_0_6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0e3460dc8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g30e3460dc8a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e3460dc8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0e3460dc8a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e3460dc8a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0e3460dc8a_0_29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0e3460dc8a_0_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0e3460dc8a_0_3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e3460dc8a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g30e3460dc8a_0_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0e3460dc8a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0e3460dc8a_0_4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e3460dc8a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0e3460dc8a_0_5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0e3460dc8a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0e3460dc8a_0_70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9" l="0" r="-1239" t="-20649"/>
            </a:stretch>
          </a:blipFill>
          <a:ln>
            <a:noFill/>
          </a:ln>
        </p:spPr>
      </p:sp>
      <p:pic>
        <p:nvPicPr>
          <p:cNvPr id="55" name="Google Shape;55;p13"/>
          <p:cNvPicPr preferRelativeResize="0"/>
          <p:nvPr/>
        </p:nvPicPr>
        <p:blipFill rotWithShape="1">
          <a:blip r:embed="rId4">
            <a:alphaModFix/>
          </a:blip>
          <a:srcRect b="1541" l="0" r="0" t="1531"/>
          <a:stretch/>
        </p:blipFill>
        <p:spPr>
          <a:xfrm>
            <a:off x="5518471" y="276947"/>
            <a:ext cx="3338554" cy="48570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13"/>
          <p:cNvCxnSpPr/>
          <p:nvPr/>
        </p:nvCxnSpPr>
        <p:spPr>
          <a:xfrm rot="10800000">
            <a:off x="281710" y="-22476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3"/>
          <p:cNvCxnSpPr/>
          <p:nvPr/>
        </p:nvCxnSpPr>
        <p:spPr>
          <a:xfrm rot="10800000">
            <a:off x="8862290" y="277008"/>
            <a:ext cx="0" cy="48738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13"/>
          <p:cNvCxnSpPr/>
          <p:nvPr/>
        </p:nvCxnSpPr>
        <p:spPr>
          <a:xfrm rot="10800000">
            <a:off x="283326" y="281710"/>
            <a:ext cx="85737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3"/>
          <p:cNvCxnSpPr/>
          <p:nvPr/>
        </p:nvCxnSpPr>
        <p:spPr>
          <a:xfrm rot="10800000">
            <a:off x="5513709" y="-54525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3"/>
          <p:cNvCxnSpPr/>
          <p:nvPr/>
        </p:nvCxnSpPr>
        <p:spPr>
          <a:xfrm rot="10800000">
            <a:off x="2020933" y="-42028"/>
            <a:ext cx="0" cy="32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3"/>
          <p:cNvCxnSpPr/>
          <p:nvPr/>
        </p:nvCxnSpPr>
        <p:spPr>
          <a:xfrm rot="10800000">
            <a:off x="3764961" y="-42028"/>
            <a:ext cx="0" cy="32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2" name="Google Shape;62;p13"/>
          <p:cNvGrpSpPr/>
          <p:nvPr/>
        </p:nvGrpSpPr>
        <p:grpSpPr>
          <a:xfrm>
            <a:off x="440663" y="1187809"/>
            <a:ext cx="3839705" cy="2767973"/>
            <a:chOff x="76200" y="0"/>
            <a:chExt cx="2022494" cy="1457979"/>
          </a:xfrm>
        </p:grpSpPr>
        <p:sp>
          <p:nvSpPr>
            <p:cNvPr id="63" name="Google Shape;63;p13"/>
            <p:cNvSpPr/>
            <p:nvPr/>
          </p:nvSpPr>
          <p:spPr>
            <a:xfrm>
              <a:off x="647221" y="0"/>
              <a:ext cx="1451473" cy="1457979"/>
            </a:xfrm>
            <a:custGeom>
              <a:rect b="b" l="l" r="r" t="t"/>
              <a:pathLst>
                <a:path extrusionOk="0" h="1457979" w="1451473">
                  <a:moveTo>
                    <a:pt x="725737" y="0"/>
                  </a:moveTo>
                  <a:lnTo>
                    <a:pt x="725737" y="0"/>
                  </a:lnTo>
                  <a:cubicBezTo>
                    <a:pt x="1127074" y="1795"/>
                    <a:pt x="1451473" y="327648"/>
                    <a:pt x="1451473" y="728989"/>
                  </a:cubicBezTo>
                  <a:cubicBezTo>
                    <a:pt x="1451473" y="1130331"/>
                    <a:pt x="1127074" y="1456184"/>
                    <a:pt x="725737" y="1457979"/>
                  </a:cubicBezTo>
                  <a:cubicBezTo>
                    <a:pt x="324399" y="1456184"/>
                    <a:pt x="0" y="1130331"/>
                    <a:pt x="0" y="728989"/>
                  </a:cubicBezTo>
                  <a:cubicBezTo>
                    <a:pt x="0" y="327648"/>
                    <a:pt x="324399" y="1795"/>
                    <a:pt x="72573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FFFAF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25" lIns="45725" spcFirstLastPara="1" rIns="45725" wrap="square" tIns="457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r>
                <a:t/>
              </a:r>
              <a:endParaRPr b="0" i="0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3"/>
            <p:cNvSpPr txBox="1"/>
            <p:nvPr/>
          </p:nvSpPr>
          <p:spPr>
            <a:xfrm>
              <a:off x="76200" y="28575"/>
              <a:ext cx="660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16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" name="Google Shape;65;p13"/>
          <p:cNvSpPr txBox="1"/>
          <p:nvPr/>
        </p:nvSpPr>
        <p:spPr>
          <a:xfrm>
            <a:off x="404995" y="1973261"/>
            <a:ext cx="49854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fr" sz="4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APARTMENT HUNTER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9" l="0" r="-1239" t="-20649"/>
            </a:stretch>
          </a:blipFill>
          <a:ln cap="flat" cmpd="sng" w="9525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sp>
      <p:pic>
        <p:nvPicPr>
          <p:cNvPr id="71" name="Google Shape;7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6775" y="0"/>
            <a:ext cx="4589100" cy="5143499"/>
          </a:xfrm>
          <a:prstGeom prst="rect">
            <a:avLst/>
          </a:prstGeom>
          <a:noFill/>
          <a:ln cap="flat" cmpd="sng" w="9525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2" name="Google Shape;72;p14"/>
          <p:cNvSpPr txBox="1"/>
          <p:nvPr/>
        </p:nvSpPr>
        <p:spPr>
          <a:xfrm>
            <a:off x="438150" y="269238"/>
            <a:ext cx="3963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fr" sz="4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SOMMAIRE</a:t>
            </a:r>
            <a:r>
              <a:rPr b="1" lang="fr" sz="4800">
                <a:latin typeface="DM Sans"/>
                <a:ea typeface="DM Sans"/>
                <a:cs typeface="DM Sans"/>
                <a:sym typeface="DM Sans"/>
              </a:rPr>
              <a:t>	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73;p14"/>
          <p:cNvCxnSpPr/>
          <p:nvPr/>
        </p:nvCxnSpPr>
        <p:spPr>
          <a:xfrm rot="10800000">
            <a:off x="-7575" y="1174433"/>
            <a:ext cx="45891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14"/>
          <p:cNvSpPr txBox="1"/>
          <p:nvPr/>
        </p:nvSpPr>
        <p:spPr>
          <a:xfrm>
            <a:off x="590550" y="1209995"/>
            <a:ext cx="48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fr" sz="4800" u="none" cap="none" strike="noStrike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700" u="none" cap="none" strike="noStrike">
              <a:solidFill>
                <a:srgbClr val="FFFA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514350" y="2003427"/>
            <a:ext cx="48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fr" sz="4800" u="none" cap="none" strike="noStrike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0" i="0" sz="700" u="none" cap="none" strike="noStrike">
              <a:solidFill>
                <a:srgbClr val="FFFA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514350" y="2796860"/>
            <a:ext cx="48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fr" sz="4800" u="none" cap="none" strike="noStrike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0" i="0" sz="700" u="none" cap="none" strike="noStrike">
              <a:solidFill>
                <a:srgbClr val="FFFA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1057258" y="1500534"/>
            <a:ext cx="179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  <a:endParaRPr b="0" i="0" sz="700" u="none" cap="none" strike="noStrike">
              <a:solidFill>
                <a:srgbClr val="FFFA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1057449" y="2293950"/>
            <a:ext cx="2091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16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MODELES UTILISES</a:t>
            </a:r>
            <a:endParaRPr b="0" i="0" sz="700" u="none" cap="none" strike="noStrike">
              <a:solidFill>
                <a:srgbClr val="FFFA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1057258" y="3072750"/>
            <a:ext cx="179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16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RÉGRESSIONS</a:t>
            </a:r>
            <a:endParaRPr b="0" i="0" sz="700" u="none" cap="none" strike="noStrike">
              <a:solidFill>
                <a:srgbClr val="FFFA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p14"/>
          <p:cNvCxnSpPr/>
          <p:nvPr/>
        </p:nvCxnSpPr>
        <p:spPr>
          <a:xfrm rot="10800000">
            <a:off x="-7575" y="1967552"/>
            <a:ext cx="45891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4"/>
          <p:cNvCxnSpPr/>
          <p:nvPr/>
        </p:nvCxnSpPr>
        <p:spPr>
          <a:xfrm rot="10800000">
            <a:off x="-7575" y="2736835"/>
            <a:ext cx="45891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14"/>
          <p:cNvCxnSpPr/>
          <p:nvPr/>
        </p:nvCxnSpPr>
        <p:spPr>
          <a:xfrm rot="10800000">
            <a:off x="-7575" y="3562267"/>
            <a:ext cx="45891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14"/>
          <p:cNvCxnSpPr/>
          <p:nvPr/>
        </p:nvCxnSpPr>
        <p:spPr>
          <a:xfrm flipH="1" rot="10800000">
            <a:off x="4576763" y="6024"/>
            <a:ext cx="2400" cy="51600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14"/>
          <p:cNvCxnSpPr/>
          <p:nvPr/>
        </p:nvCxnSpPr>
        <p:spPr>
          <a:xfrm rot="10800000">
            <a:off x="-7575" y="4359667"/>
            <a:ext cx="45891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" name="Google Shape;85;p14"/>
          <p:cNvSpPr txBox="1"/>
          <p:nvPr/>
        </p:nvSpPr>
        <p:spPr>
          <a:xfrm>
            <a:off x="1057458" y="3901675"/>
            <a:ext cx="179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16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PREDICTION</a:t>
            </a:r>
            <a:endParaRPr b="0" i="0" sz="700" u="none" cap="none" strike="noStrike">
              <a:solidFill>
                <a:srgbClr val="FFFA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4"/>
          <p:cNvSpPr txBox="1"/>
          <p:nvPr/>
        </p:nvSpPr>
        <p:spPr>
          <a:xfrm>
            <a:off x="1057258" y="4692075"/>
            <a:ext cx="1797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16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  <a:endParaRPr b="0" i="0" sz="700" u="none" cap="none" strike="noStrike">
              <a:solidFill>
                <a:srgbClr val="FFFA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514350" y="3591535"/>
            <a:ext cx="48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fr" sz="4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  <a:endParaRPr b="0" i="0" sz="700" u="none" cap="none" strike="noStrike">
              <a:solidFill>
                <a:srgbClr val="FFFAF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 txBox="1"/>
          <p:nvPr/>
        </p:nvSpPr>
        <p:spPr>
          <a:xfrm>
            <a:off x="514350" y="4397060"/>
            <a:ext cx="480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fr" sz="4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  <a:endParaRPr b="0" i="0" sz="700" u="none" cap="none" strike="noStrike">
              <a:solidFill>
                <a:srgbClr val="FFFAF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9" l="0" r="-1239" t="-20649"/>
            </a:stretch>
          </a:blipFill>
          <a:ln>
            <a:noFill/>
          </a:ln>
        </p:spPr>
      </p:sp>
      <p:pic>
        <p:nvPicPr>
          <p:cNvPr id="94" name="Google Shape;94;p15"/>
          <p:cNvPicPr preferRelativeResize="0"/>
          <p:nvPr/>
        </p:nvPicPr>
        <p:blipFill rotWithShape="1">
          <a:blip r:embed="rId4">
            <a:alphaModFix/>
          </a:blip>
          <a:srcRect b="1541" l="0" r="0" t="1531"/>
          <a:stretch/>
        </p:blipFill>
        <p:spPr>
          <a:xfrm>
            <a:off x="5518471" y="276947"/>
            <a:ext cx="3338555" cy="4857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5"/>
          <p:cNvCxnSpPr/>
          <p:nvPr/>
        </p:nvCxnSpPr>
        <p:spPr>
          <a:xfrm rot="10800000">
            <a:off x="281710" y="-22476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5"/>
          <p:cNvCxnSpPr/>
          <p:nvPr/>
        </p:nvCxnSpPr>
        <p:spPr>
          <a:xfrm rot="10800000">
            <a:off x="8862290" y="277008"/>
            <a:ext cx="0" cy="48738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15"/>
          <p:cNvCxnSpPr/>
          <p:nvPr/>
        </p:nvCxnSpPr>
        <p:spPr>
          <a:xfrm rot="10800000">
            <a:off x="283326" y="281710"/>
            <a:ext cx="85737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15"/>
          <p:cNvCxnSpPr/>
          <p:nvPr/>
        </p:nvCxnSpPr>
        <p:spPr>
          <a:xfrm rot="10800000">
            <a:off x="5513709" y="-54525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" name="Google Shape;99;p15"/>
          <p:cNvCxnSpPr/>
          <p:nvPr/>
        </p:nvCxnSpPr>
        <p:spPr>
          <a:xfrm rot="10800000">
            <a:off x="2020933" y="-42028"/>
            <a:ext cx="0" cy="32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15"/>
          <p:cNvCxnSpPr/>
          <p:nvPr/>
        </p:nvCxnSpPr>
        <p:spPr>
          <a:xfrm rot="10800000">
            <a:off x="3764961" y="-42028"/>
            <a:ext cx="0" cy="32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15"/>
          <p:cNvSpPr txBox="1"/>
          <p:nvPr/>
        </p:nvSpPr>
        <p:spPr>
          <a:xfrm>
            <a:off x="409770" y="2250111"/>
            <a:ext cx="49854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fr" sz="4800" u="none" cap="none" strike="noStrike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9" l="0" r="-1239" t="-20649"/>
            </a:stretch>
          </a:blipFill>
          <a:ln>
            <a:noFill/>
          </a:ln>
        </p:spPr>
      </p:sp>
      <p:pic>
        <p:nvPicPr>
          <p:cNvPr id="107" name="Google Shape;1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2988" y="276950"/>
            <a:ext cx="3999496" cy="458262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6"/>
          <p:cNvCxnSpPr/>
          <p:nvPr/>
        </p:nvCxnSpPr>
        <p:spPr>
          <a:xfrm rot="10800000">
            <a:off x="277059" y="1860233"/>
            <a:ext cx="42918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" name="Google Shape;109;p16"/>
          <p:cNvCxnSpPr/>
          <p:nvPr/>
        </p:nvCxnSpPr>
        <p:spPr>
          <a:xfrm rot="10800000">
            <a:off x="281710" y="-314639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" name="Google Shape;110;p16"/>
          <p:cNvCxnSpPr/>
          <p:nvPr/>
        </p:nvCxnSpPr>
        <p:spPr>
          <a:xfrm rot="10800000">
            <a:off x="-56455" y="281710"/>
            <a:ext cx="92535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" name="Google Shape;111;p16"/>
          <p:cNvCxnSpPr/>
          <p:nvPr/>
        </p:nvCxnSpPr>
        <p:spPr>
          <a:xfrm rot="10800000">
            <a:off x="8862290" y="-354240"/>
            <a:ext cx="0" cy="52281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p16"/>
          <p:cNvCxnSpPr/>
          <p:nvPr/>
        </p:nvCxnSpPr>
        <p:spPr>
          <a:xfrm rot="10800000">
            <a:off x="277452" y="4869098"/>
            <a:ext cx="85896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" name="Google Shape;113;p16"/>
          <p:cNvCxnSpPr/>
          <p:nvPr/>
        </p:nvCxnSpPr>
        <p:spPr>
          <a:xfrm rot="10800000">
            <a:off x="4570200" y="281835"/>
            <a:ext cx="1800" cy="4582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16"/>
          <p:cNvSpPr txBox="1"/>
          <p:nvPr/>
        </p:nvSpPr>
        <p:spPr>
          <a:xfrm>
            <a:off x="441472" y="750456"/>
            <a:ext cx="39630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fr" sz="41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INTRODUCTION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16"/>
          <p:cNvCxnSpPr/>
          <p:nvPr/>
        </p:nvCxnSpPr>
        <p:spPr>
          <a:xfrm rot="10800000">
            <a:off x="4857725" y="277075"/>
            <a:ext cx="1800" cy="4582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16"/>
          <p:cNvSpPr txBox="1"/>
          <p:nvPr/>
        </p:nvSpPr>
        <p:spPr>
          <a:xfrm>
            <a:off x="562697" y="2518369"/>
            <a:ext cx="3726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1200"/>
              <a:buFont typeface="DM Sans"/>
              <a:buChar char="●"/>
            </a:pPr>
            <a:r>
              <a:rPr lang="fr" sz="12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Prédiction du prix de biens immobiliers à Madrid</a:t>
            </a:r>
            <a:endParaRPr sz="12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1200"/>
              <a:buFont typeface="DM Sans"/>
              <a:buChar char="●"/>
            </a:pPr>
            <a:r>
              <a:rPr lang="fr" sz="12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Nettoyage et analyse du dataset</a:t>
            </a:r>
            <a:endParaRPr sz="12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1200"/>
              <a:buFont typeface="DM Sans"/>
              <a:buChar char="●"/>
            </a:pPr>
            <a:r>
              <a:rPr lang="fr" sz="12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Utilisation d’algorithmes de régression</a:t>
            </a:r>
            <a:endParaRPr sz="12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048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1200"/>
              <a:buFont typeface="DM Sans"/>
              <a:buChar char="●"/>
            </a:pPr>
            <a:r>
              <a:rPr lang="fr" sz="12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Application d’estimation de prix</a:t>
            </a:r>
            <a:endParaRPr sz="12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9" l="0" r="-1239" t="-20649"/>
            </a:stretch>
          </a:blipFill>
          <a:ln>
            <a:noFill/>
          </a:ln>
        </p:spPr>
      </p:sp>
      <p:pic>
        <p:nvPicPr>
          <p:cNvPr id="122" name="Google Shape;122;p17"/>
          <p:cNvPicPr preferRelativeResize="0"/>
          <p:nvPr/>
        </p:nvPicPr>
        <p:blipFill rotWithShape="1">
          <a:blip r:embed="rId4">
            <a:alphaModFix/>
          </a:blip>
          <a:srcRect b="1541" l="0" r="0" t="1531"/>
          <a:stretch/>
        </p:blipFill>
        <p:spPr>
          <a:xfrm>
            <a:off x="5518471" y="276947"/>
            <a:ext cx="3338555" cy="4857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" name="Google Shape;123;p17"/>
          <p:cNvCxnSpPr/>
          <p:nvPr/>
        </p:nvCxnSpPr>
        <p:spPr>
          <a:xfrm rot="10800000">
            <a:off x="281710" y="-22476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" name="Google Shape;124;p17"/>
          <p:cNvCxnSpPr/>
          <p:nvPr/>
        </p:nvCxnSpPr>
        <p:spPr>
          <a:xfrm rot="10800000">
            <a:off x="8862290" y="277008"/>
            <a:ext cx="0" cy="48738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5" name="Google Shape;125;p17"/>
          <p:cNvCxnSpPr/>
          <p:nvPr/>
        </p:nvCxnSpPr>
        <p:spPr>
          <a:xfrm rot="10800000">
            <a:off x="283326" y="281710"/>
            <a:ext cx="85737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" name="Google Shape;126;p17"/>
          <p:cNvCxnSpPr/>
          <p:nvPr/>
        </p:nvCxnSpPr>
        <p:spPr>
          <a:xfrm rot="10800000">
            <a:off x="5513709" y="-54525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17"/>
          <p:cNvCxnSpPr/>
          <p:nvPr/>
        </p:nvCxnSpPr>
        <p:spPr>
          <a:xfrm rot="10800000">
            <a:off x="2020933" y="-42028"/>
            <a:ext cx="0" cy="32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" name="Google Shape;128;p17"/>
          <p:cNvCxnSpPr/>
          <p:nvPr/>
        </p:nvCxnSpPr>
        <p:spPr>
          <a:xfrm rot="10800000">
            <a:off x="3764961" y="-42028"/>
            <a:ext cx="0" cy="32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17"/>
          <p:cNvSpPr txBox="1"/>
          <p:nvPr/>
        </p:nvSpPr>
        <p:spPr>
          <a:xfrm>
            <a:off x="409770" y="2250111"/>
            <a:ext cx="49854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fr" sz="4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MODELES UTILISES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-325" y="-7340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9" l="0" r="-1239" t="-20649"/>
            </a:stretch>
          </a:blipFill>
          <a:ln>
            <a:noFill/>
          </a:ln>
        </p:spPr>
      </p:sp>
      <p:pic>
        <p:nvPicPr>
          <p:cNvPr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1713" y="1405945"/>
            <a:ext cx="3181575" cy="34679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18"/>
          <p:cNvCxnSpPr/>
          <p:nvPr/>
        </p:nvCxnSpPr>
        <p:spPr>
          <a:xfrm rot="10800000">
            <a:off x="281710" y="278460"/>
            <a:ext cx="0" cy="45954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18"/>
          <p:cNvCxnSpPr/>
          <p:nvPr/>
        </p:nvCxnSpPr>
        <p:spPr>
          <a:xfrm rot="10800000">
            <a:off x="279874" y="281710"/>
            <a:ext cx="85869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18"/>
          <p:cNvCxnSpPr/>
          <p:nvPr/>
        </p:nvCxnSpPr>
        <p:spPr>
          <a:xfrm rot="10800000">
            <a:off x="8862290" y="281161"/>
            <a:ext cx="0" cy="45927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18"/>
          <p:cNvCxnSpPr/>
          <p:nvPr/>
        </p:nvCxnSpPr>
        <p:spPr>
          <a:xfrm rot="10800000">
            <a:off x="277452" y="4869098"/>
            <a:ext cx="85896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18"/>
          <p:cNvCxnSpPr/>
          <p:nvPr/>
        </p:nvCxnSpPr>
        <p:spPr>
          <a:xfrm rot="10800000">
            <a:off x="3740236" y="1411675"/>
            <a:ext cx="0" cy="34479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8"/>
          <p:cNvCxnSpPr/>
          <p:nvPr/>
        </p:nvCxnSpPr>
        <p:spPr>
          <a:xfrm rot="10800000">
            <a:off x="281822" y="1412897"/>
            <a:ext cx="85797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18"/>
          <p:cNvCxnSpPr/>
          <p:nvPr/>
        </p:nvCxnSpPr>
        <p:spPr>
          <a:xfrm flipH="1" rot="10800000">
            <a:off x="6288225" y="1408050"/>
            <a:ext cx="6300" cy="17322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18"/>
          <p:cNvCxnSpPr/>
          <p:nvPr/>
        </p:nvCxnSpPr>
        <p:spPr>
          <a:xfrm rot="10800000">
            <a:off x="3740179" y="3135522"/>
            <a:ext cx="5128500" cy="150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18"/>
          <p:cNvSpPr txBox="1"/>
          <p:nvPr/>
        </p:nvSpPr>
        <p:spPr>
          <a:xfrm>
            <a:off x="282150" y="586025"/>
            <a:ext cx="8579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fr" sz="44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MODELES UTILISES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8"/>
          <p:cNvSpPr txBox="1"/>
          <p:nvPr/>
        </p:nvSpPr>
        <p:spPr>
          <a:xfrm>
            <a:off x="3810554" y="1439074"/>
            <a:ext cx="164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16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Random Forest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 txBox="1"/>
          <p:nvPr/>
        </p:nvSpPr>
        <p:spPr>
          <a:xfrm>
            <a:off x="3811379" y="1731871"/>
            <a:ext cx="240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Avantages :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Modèle robuste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Capture des interactions complexes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Inconvénients :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Difficile à interpréter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Plus coûteux en temps de calcul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18"/>
          <p:cNvSpPr txBox="1"/>
          <p:nvPr/>
        </p:nvSpPr>
        <p:spPr>
          <a:xfrm>
            <a:off x="6364253" y="1439087"/>
            <a:ext cx="1649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16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XGBoost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6364241" y="1731884"/>
            <a:ext cx="24057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Avantages :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Haute performance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Flexibilité (régression/classification)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Inconvénients :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Complexité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Sensibilité au sur-apprentissage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3814824" y="3194950"/>
            <a:ext cx="2787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16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Régression Linéaire (Ridge)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3818635" y="3496100"/>
            <a:ext cx="4942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Avantages :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Simple et rapide à entraîner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Facile à interpréter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Inconvénients :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Moins performants 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2857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1"/>
              </a:buClr>
              <a:buSzPts val="900"/>
              <a:buFont typeface="DM Sans"/>
              <a:buChar char="●"/>
            </a:pPr>
            <a:r>
              <a:rPr lang="fr" sz="9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Peut être moins précis</a:t>
            </a:r>
            <a:endParaRPr sz="900">
              <a:solidFill>
                <a:srgbClr val="FFFAF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51" name="Google Shape;151;p18"/>
          <p:cNvCxnSpPr/>
          <p:nvPr/>
        </p:nvCxnSpPr>
        <p:spPr>
          <a:xfrm rot="10800000">
            <a:off x="3463288" y="1406913"/>
            <a:ext cx="0" cy="34479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9" l="0" r="-1239" t="-20649"/>
            </a:stretch>
          </a:blipFill>
          <a:ln>
            <a:noFill/>
          </a:ln>
        </p:spPr>
      </p:sp>
      <p:pic>
        <p:nvPicPr>
          <p:cNvPr id="157" name="Google Shape;157;p19"/>
          <p:cNvPicPr preferRelativeResize="0"/>
          <p:nvPr/>
        </p:nvPicPr>
        <p:blipFill rotWithShape="1">
          <a:blip r:embed="rId4">
            <a:alphaModFix/>
          </a:blip>
          <a:srcRect b="1541" l="0" r="0" t="1531"/>
          <a:stretch/>
        </p:blipFill>
        <p:spPr>
          <a:xfrm>
            <a:off x="5518471" y="276947"/>
            <a:ext cx="3338555" cy="4857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8" name="Google Shape;158;p19"/>
          <p:cNvCxnSpPr/>
          <p:nvPr/>
        </p:nvCxnSpPr>
        <p:spPr>
          <a:xfrm rot="10800000">
            <a:off x="281710" y="-22476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19"/>
          <p:cNvCxnSpPr/>
          <p:nvPr/>
        </p:nvCxnSpPr>
        <p:spPr>
          <a:xfrm rot="10800000">
            <a:off x="8862290" y="277008"/>
            <a:ext cx="0" cy="48738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19"/>
          <p:cNvCxnSpPr/>
          <p:nvPr/>
        </p:nvCxnSpPr>
        <p:spPr>
          <a:xfrm rot="10800000">
            <a:off x="283326" y="281710"/>
            <a:ext cx="85737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19"/>
          <p:cNvCxnSpPr/>
          <p:nvPr/>
        </p:nvCxnSpPr>
        <p:spPr>
          <a:xfrm rot="10800000">
            <a:off x="5513709" y="-54525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19"/>
          <p:cNvCxnSpPr/>
          <p:nvPr/>
        </p:nvCxnSpPr>
        <p:spPr>
          <a:xfrm rot="10800000">
            <a:off x="2020933" y="-42028"/>
            <a:ext cx="0" cy="32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19"/>
          <p:cNvCxnSpPr/>
          <p:nvPr/>
        </p:nvCxnSpPr>
        <p:spPr>
          <a:xfrm rot="10800000">
            <a:off x="3764961" y="-42028"/>
            <a:ext cx="0" cy="32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9"/>
          <p:cNvSpPr txBox="1"/>
          <p:nvPr/>
        </p:nvSpPr>
        <p:spPr>
          <a:xfrm>
            <a:off x="409770" y="2250111"/>
            <a:ext cx="49854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fr" sz="4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RÉGRESSIONS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9" l="0" r="-1239" t="-20649"/>
            </a:stretch>
          </a:blipFill>
          <a:ln>
            <a:noFill/>
          </a:ln>
        </p:spPr>
      </p:sp>
      <p:pic>
        <p:nvPicPr>
          <p:cNvPr id="170" name="Google Shape;17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138" y="278475"/>
            <a:ext cx="3178000" cy="459538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20"/>
          <p:cNvCxnSpPr/>
          <p:nvPr/>
        </p:nvCxnSpPr>
        <p:spPr>
          <a:xfrm rot="10800000">
            <a:off x="281710" y="278460"/>
            <a:ext cx="0" cy="45954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20"/>
          <p:cNvCxnSpPr/>
          <p:nvPr/>
        </p:nvCxnSpPr>
        <p:spPr>
          <a:xfrm rot="10800000">
            <a:off x="279874" y="281710"/>
            <a:ext cx="85869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3" name="Google Shape;173;p20"/>
          <p:cNvCxnSpPr/>
          <p:nvPr/>
        </p:nvCxnSpPr>
        <p:spPr>
          <a:xfrm rot="10800000">
            <a:off x="8862290" y="281161"/>
            <a:ext cx="0" cy="45927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4" name="Google Shape;174;p20"/>
          <p:cNvCxnSpPr/>
          <p:nvPr/>
        </p:nvCxnSpPr>
        <p:spPr>
          <a:xfrm rot="10800000">
            <a:off x="277452" y="4869098"/>
            <a:ext cx="85896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" name="Google Shape;175;p20"/>
          <p:cNvCxnSpPr/>
          <p:nvPr/>
        </p:nvCxnSpPr>
        <p:spPr>
          <a:xfrm rot="10800000">
            <a:off x="5678139" y="280375"/>
            <a:ext cx="0" cy="45792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6" name="Google Shape;176;p20"/>
          <p:cNvCxnSpPr/>
          <p:nvPr/>
        </p:nvCxnSpPr>
        <p:spPr>
          <a:xfrm rot="10800000">
            <a:off x="279647" y="1412897"/>
            <a:ext cx="51186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0"/>
          <p:cNvCxnSpPr/>
          <p:nvPr/>
        </p:nvCxnSpPr>
        <p:spPr>
          <a:xfrm rot="10800000">
            <a:off x="2831366" y="1408110"/>
            <a:ext cx="0" cy="34479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0"/>
          <p:cNvCxnSpPr/>
          <p:nvPr/>
        </p:nvCxnSpPr>
        <p:spPr>
          <a:xfrm rot="10800000">
            <a:off x="276904" y="3135522"/>
            <a:ext cx="5128500" cy="150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20"/>
          <p:cNvSpPr txBox="1"/>
          <p:nvPr/>
        </p:nvSpPr>
        <p:spPr>
          <a:xfrm>
            <a:off x="845172" y="572031"/>
            <a:ext cx="39630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fr" sz="44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RÉGRESSIONS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94875" y="3794258"/>
            <a:ext cx="252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2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Prédiction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 rot="10800000">
            <a:off x="5401192" y="280336"/>
            <a:ext cx="0" cy="45840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20"/>
          <p:cNvSpPr txBox="1"/>
          <p:nvPr/>
        </p:nvSpPr>
        <p:spPr>
          <a:xfrm>
            <a:off x="2851808" y="3794258"/>
            <a:ext cx="252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2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Visualisation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94875" y="2041658"/>
            <a:ext cx="252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2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Entraînement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851808" y="2041658"/>
            <a:ext cx="2523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fr" sz="2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Evaluation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1179" l="0" r="-1239" t="-20649"/>
            </a:stretch>
          </a:blipFill>
          <a:ln>
            <a:noFill/>
          </a:ln>
        </p:spPr>
      </p:sp>
      <p:pic>
        <p:nvPicPr>
          <p:cNvPr id="190" name="Google Shape;190;p21"/>
          <p:cNvPicPr preferRelativeResize="0"/>
          <p:nvPr/>
        </p:nvPicPr>
        <p:blipFill rotWithShape="1">
          <a:blip r:embed="rId4">
            <a:alphaModFix/>
          </a:blip>
          <a:srcRect b="1541" l="0" r="0" t="1531"/>
          <a:stretch/>
        </p:blipFill>
        <p:spPr>
          <a:xfrm>
            <a:off x="5518471" y="276947"/>
            <a:ext cx="3338555" cy="485702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1"/>
          <p:cNvCxnSpPr/>
          <p:nvPr/>
        </p:nvCxnSpPr>
        <p:spPr>
          <a:xfrm rot="10800000">
            <a:off x="281710" y="-22476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2" name="Google Shape;192;p21"/>
          <p:cNvCxnSpPr/>
          <p:nvPr/>
        </p:nvCxnSpPr>
        <p:spPr>
          <a:xfrm rot="10800000">
            <a:off x="8862290" y="277008"/>
            <a:ext cx="0" cy="48738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3" name="Google Shape;193;p21"/>
          <p:cNvCxnSpPr/>
          <p:nvPr/>
        </p:nvCxnSpPr>
        <p:spPr>
          <a:xfrm rot="10800000">
            <a:off x="283326" y="281710"/>
            <a:ext cx="8573700" cy="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21"/>
          <p:cNvCxnSpPr/>
          <p:nvPr/>
        </p:nvCxnSpPr>
        <p:spPr>
          <a:xfrm rot="10800000">
            <a:off x="5513709" y="-54525"/>
            <a:ext cx="0" cy="518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21"/>
          <p:cNvCxnSpPr/>
          <p:nvPr/>
        </p:nvCxnSpPr>
        <p:spPr>
          <a:xfrm rot="10800000">
            <a:off x="2020933" y="-42028"/>
            <a:ext cx="0" cy="32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21"/>
          <p:cNvCxnSpPr/>
          <p:nvPr/>
        </p:nvCxnSpPr>
        <p:spPr>
          <a:xfrm rot="10800000">
            <a:off x="3764961" y="-42028"/>
            <a:ext cx="0" cy="328500"/>
          </a:xfrm>
          <a:prstGeom prst="straightConnector1">
            <a:avLst/>
          </a:prstGeom>
          <a:noFill/>
          <a:ln cap="flat" cmpd="sng" w="19050">
            <a:solidFill>
              <a:srgbClr val="FFFAF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21"/>
          <p:cNvSpPr txBox="1"/>
          <p:nvPr/>
        </p:nvSpPr>
        <p:spPr>
          <a:xfrm>
            <a:off x="409770" y="2250111"/>
            <a:ext cx="4985400" cy="5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lang="fr" sz="4800">
                <a:solidFill>
                  <a:srgbClr val="FFFAF1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